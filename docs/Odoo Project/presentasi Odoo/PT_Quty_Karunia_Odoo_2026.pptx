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PT Quty Karunia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Evaluasi &amp; Rencana Implementasi Odoo ERP 2026</a:t>
            </a:r>
          </a:p>
          <a:p>
            <a:r>
              <a:t>Soft Toys &amp; Stuffing Manufacturing | IKEA Supplier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D9"/>
                </a:solidFill>
              </a:defRPr>
            </a:pPr>
            <a:r>
              <a:t>Slide 1 — Workflow Saat Ini (Manual Process)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⚠️ KONDISI SAAT INI:</a:t>
            </a:r>
          </a:p>
          <a:p>
            <a:pPr>
              <a:defRPr sz="1400"/>
            </a:pPr>
            <a:r>
              <a:t>Seluruh proses operasional PT Quty Karunia masih berbasis Excel manual dan komunikasi verbal.</a:t>
            </a:r>
          </a:p>
          <a:p>
            <a:pPr>
              <a:defRPr sz="1400"/>
            </a:pPr>
            <a:r>
              <a:t>Purchasing menjadi trigger utama material planning — bukan PPIC.</a:t>
            </a:r>
          </a:p>
          <a:p>
            <a:pPr>
              <a:defRPr sz="1400"/>
            </a:pPr>
          </a:p>
          <a:p>
            <a:pPr>
              <a:defRPr sz="1600" b="1"/>
            </a:pPr>
            <a:r>
              <a:t>ALUR PURCHASING → WAREHOUSE (Manual):</a:t>
            </a:r>
          </a:p>
          <a:p>
            <a:pPr>
              <a:defRPr sz="1400"/>
            </a:pPr>
            <a:r>
              <a:t>• Terima Order → Buka Excel BOM (478 SKU)</a:t>
            </a:r>
          </a:p>
          <a:p>
            <a:pPr>
              <a:defRPr sz="1400"/>
            </a:pPr>
            <a:r>
              <a:t>• Kalkulasi Manual Kebutuhan Material</a:t>
            </a:r>
          </a:p>
          <a:p>
            <a:pPr>
              <a:defRPr sz="1400"/>
            </a:pPr>
            <a:r>
              <a:t>• Cek Stock di Excel Gudang (Delay 1-2 jam)</a:t>
            </a:r>
          </a:p>
          <a:p>
            <a:pPr>
              <a:defRPr sz="1400"/>
            </a:pPr>
            <a:r>
              <a:t>• Buat PO di Excel (Copy-paste, rawan typo)</a:t>
            </a:r>
          </a:p>
          <a:p>
            <a:pPr>
              <a:defRPr sz="1400"/>
            </a:pPr>
            <a:r>
              <a:t>• Email PO ke Supplier (Manual)</a:t>
            </a:r>
          </a:p>
          <a:p>
            <a:pPr>
              <a:defRPr sz="1400"/>
            </a:pPr>
            <a:r>
              <a:t>• Warehouse Terima Material</a:t>
            </a:r>
          </a:p>
          <a:p>
            <a:pPr>
              <a:defRPr sz="1400"/>
            </a:pPr>
            <a:r>
              <a:t>• Admin Update Excel Stock (End-of-day, rawan salah)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0021B"/>
                </a:solidFill>
              </a:defRPr>
            </a:pPr>
            <a:r>
              <a:t>Pain Points Utama - Proses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1. Material shortage tiba-tiba → Production stop, overtime, emergency purchasing</a:t>
            </a:r>
          </a:p>
          <a:p>
            <a:pPr>
              <a:defRPr sz="1300"/>
            </a:pPr>
            <a:r>
              <a:t>2. Tidak tahu WIP real-time → Planning impossible, bottleneck detection delayed</a:t>
            </a:r>
          </a:p>
          <a:p>
            <a:pPr>
              <a:defRPr sz="1300"/>
            </a:pPr>
            <a:r>
              <a:t>3. QC defect manual (Excel terpisah) → Tidak terintegrasi, IKEA audit risk</a:t>
            </a:r>
          </a:p>
          <a:p>
            <a:pPr>
              <a:defRPr sz="1300" b="1">
                <a:solidFill>
                  <a:srgbClr val="D0021B"/>
                </a:solidFill>
              </a:defRPr>
            </a:pPr>
            <a:r>
              <a:t>4. 🚨 CRITICAL: Mix Label risk (Finishing-Packing) → IKEA REJECT!</a:t>
            </a:r>
          </a:p>
          <a:p>
            <a:pPr>
              <a:defRPr sz="1300"/>
            </a:pPr>
            <a:r>
              <a:t>5. Dual trigger system manual → Admin overwhelmed, packaging error frequent</a:t>
            </a:r>
          </a:p>
          <a:p>
            <a:pPr>
              <a:defRPr sz="1300"/>
            </a:pPr>
            <a:r>
              <a:t>6. Excel-based planning → Error prone, single point of failure</a:t>
            </a:r>
          </a:p>
          <a:p>
            <a:pPr>
              <a:defRPr sz="1300"/>
            </a:pPr>
            <a:r>
              <a:t>7. Target produksi flat → Shortage frequent (tidak hitung defect rate)</a:t>
            </a:r>
          </a:p>
          <a:p>
            <a:pPr>
              <a:defRPr sz="1300"/>
            </a:pPr>
            <a:r>
              <a:t>8. Manual material tracking → Admin time wasted 2-3 jam/hari</a:t>
            </a:r>
          </a:p>
          <a:p>
            <a:pPr>
              <a:defRPr sz="1300"/>
            </a:pPr>
            <a:r>
              <a:t>9. Stock opname 1 hari penuh → Production stop untuk counting</a:t>
            </a:r>
          </a:p>
          <a:p>
            <a:pPr>
              <a:defRPr sz="1300"/>
            </a:pPr>
            <a:r>
              <a:t>10. Rework tidak ter-record → Cost tidak tahu, IKEA audit concern</a:t>
            </a:r>
          </a:p>
          <a:p>
            <a:pPr>
              <a:defRPr sz="1300"/>
            </a:pPr>
            <a:r>
              <a:t>11. Multi-unit conversion manual + Pallet → UOM error: ROLL↔METER, KG↔GRAM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ED321"/>
                </a:solidFill>
              </a:defRPr>
            </a:pPr>
            <a:r>
              <a:t>Slide 2 — Workflow Rencana Odoo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ED321"/>
                </a:solidFill>
              </a:defRPr>
            </a:pPr>
            <a:r>
              <a:t>✅ VISI 2026:</a:t>
            </a:r>
          </a:p>
          <a:p>
            <a:pPr>
              <a:defRPr sz="1400"/>
            </a:pPr>
            <a:r>
              <a:t>Seluruh proses terintegrasi dalam Odoo Enterprise.</a:t>
            </a:r>
          </a:p>
          <a:p>
            <a:pPr>
              <a:defRPr sz="1400"/>
            </a:pPr>
            <a:r>
              <a:t>Dari input order hingga dispatch — otomatis, real-time, dan zero mix label.</a:t>
            </a:r>
          </a:p>
          <a:p>
            <a:pPr>
              <a:defRPr sz="1400"/>
            </a:pPr>
          </a:p>
          <a:p>
            <a:pPr>
              <a:defRPr sz="1600" b="1">
                <a:solidFill>
                  <a:srgbClr val="7ED321"/>
                </a:solidFill>
              </a:defRPr>
            </a:pPr>
            <a:r>
              <a:t>ALUR PURCHASING → WAREHOUSE (Odoo Otomatis):</a:t>
            </a:r>
          </a:p>
          <a:p>
            <a:pPr>
              <a:defRPr sz="1400"/>
            </a:pPr>
            <a:r>
              <a:t>• Input Order di Odoo → ODOO AUTOMATION</a:t>
            </a:r>
          </a:p>
          <a:p>
            <a:pPr>
              <a:defRPr sz="1400"/>
            </a:pPr>
            <a:r>
              <a:t>• Auto Explode BOM (478 SKU instant!)</a:t>
            </a:r>
          </a:p>
          <a:p>
            <a:pPr>
              <a:defRPr sz="1400"/>
            </a:pPr>
            <a:r>
              <a:t>• Auto Convert Units ROLL→PCS, KG→GRAM</a:t>
            </a:r>
          </a:p>
          <a:p>
            <a:pPr>
              <a:defRPr sz="1400"/>
            </a:pPr>
            <a:r>
              <a:t>• IKEA Pallet Logic: Karton Genap per Pallet</a:t>
            </a:r>
          </a:p>
          <a:p>
            <a:pPr>
              <a:defRPr sz="1400"/>
            </a:pPr>
            <a:r>
              <a:t>• Purchase Requisition List (Auto-generated)</a:t>
            </a:r>
          </a:p>
          <a:p>
            <a:pPr>
              <a:defRPr sz="1400"/>
            </a:pPr>
            <a:r>
              <a:t>• 1-Click Create PO + Email Auto-send ke Supplier!</a:t>
            </a:r>
          </a:p>
          <a:p>
            <a:pPr>
              <a:defRPr sz="1400"/>
            </a:pPr>
            <a:r>
              <a:t>• Warehouse Scan Mobile + Validasi Barcode</a:t>
            </a:r>
          </a:p>
          <a:p>
            <a:pPr>
              <a:defRPr sz="1400"/>
            </a:pPr>
            <a:r>
              <a:t>• Stock Update REAL-TIME!</a:t>
            </a:r>
          </a:p>
          <a:p>
            <a:pPr>
              <a:defRPr sz="1400"/>
            </a:pPr>
            <a:r>
              <a:t>• Dashboard: Material Ready → Info ke Produksi: VALID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Manfaat Utama Odoo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560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🛒 PURCHASING</a:t>
            </a:r>
          </a:p>
          <a:p>
            <a:pPr>
              <a:defRPr sz="1200"/>
            </a:pPr>
            <a:r>
              <a:t>• Auto-calculate material dari BOM</a:t>
            </a:r>
          </a:p>
          <a:p>
            <a:pPr>
              <a:defRPr sz="1200"/>
            </a:pPr>
            <a:r>
              <a:t>• Multi-unit conversion otomatis</a:t>
            </a:r>
          </a:p>
          <a:p>
            <a:pPr>
              <a:defRPr sz="1200"/>
            </a:pPr>
            <a:r>
              <a:t>• IKEA pallet rules built-in</a:t>
            </a:r>
          </a:p>
          <a:p>
            <a:pPr>
              <a:defRPr sz="1200"/>
            </a:pPr>
            <a:r>
              <a:t>• Stock visibility real-time</a:t>
            </a:r>
          </a:p>
          <a:p>
            <a:pPr>
              <a:defRPr sz="1200"/>
            </a:pPr>
            <a:r>
              <a:t>• PO tracking otomatis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0"/>
            <a:ext cx="2560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🏭 PRODUCTION</a:t>
            </a:r>
          </a:p>
          <a:p>
            <a:pPr>
              <a:defRPr sz="1200"/>
            </a:pPr>
            <a:r>
              <a:t>• MO &amp; WO auto-generate</a:t>
            </a:r>
          </a:p>
          <a:p>
            <a:pPr>
              <a:defRPr sz="1200"/>
            </a:pPr>
            <a:r>
              <a:t>• Material backflush otomatis</a:t>
            </a:r>
          </a:p>
          <a:p>
            <a:pPr>
              <a:defRPr sz="1200"/>
            </a:pPr>
            <a:r>
              <a:t>• QC terintegrasi per dept</a:t>
            </a:r>
          </a:p>
          <a:p>
            <a:pPr>
              <a:defRPr sz="1200"/>
            </a:pPr>
            <a:r>
              <a:t>• Rework tracked &amp; traceable</a:t>
            </a:r>
          </a:p>
          <a:p>
            <a:pPr>
              <a:defRPr sz="1200"/>
            </a:pPr>
            <a:r>
              <a:t>• 38 sewing lines tracking otomatis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097280"/>
            <a:ext cx="2560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📊 MANAGEMENT</a:t>
            </a:r>
          </a:p>
          <a:p>
            <a:pPr>
              <a:defRPr sz="1200"/>
            </a:pPr>
            <a:r>
              <a:t>• Real-time WIP dashboard</a:t>
            </a:r>
          </a:p>
          <a:p>
            <a:pPr>
              <a:defRPr sz="1200"/>
            </a:pPr>
            <a:r>
              <a:t>• Bottleneck alert otomatis</a:t>
            </a:r>
          </a:p>
          <a:p>
            <a:pPr>
              <a:defRPr sz="1200"/>
            </a:pPr>
            <a:r>
              <a:t>• Defect pattern analysis</a:t>
            </a:r>
          </a:p>
          <a:p>
            <a:pPr>
              <a:defRPr sz="1200"/>
            </a:pPr>
            <a:r>
              <a:t>• IKEA audit compliance ready</a:t>
            </a:r>
          </a:p>
          <a:p>
            <a:pPr>
              <a:defRPr sz="1200"/>
            </a:pPr>
            <a:r>
              <a:t>• Completion forecast akurat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Slide 3 — Perbandingan: Manual vs Odoo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KALKULASI MATERIAL:</a:t>
            </a:r>
          </a:p>
          <a:p>
            <a:pPr>
              <a:defRPr sz="1300"/>
            </a:pPr>
            <a:r>
              <a:t>🔴 Manual: Excel &amp; Rumus. Rawan salah konversi unit</a:t>
            </a:r>
          </a:p>
          <a:p>
            <a:pPr>
              <a:defRPr sz="1300"/>
            </a:pPr>
            <a:r>
              <a:t>🟢 Odoo: Otomatis. System hitung kebutuhan + konversi + pallet genap</a:t>
            </a:r>
          </a:p>
          <a:p>
            <a:pPr>
              <a:defRPr sz="1300"/>
            </a:pPr>
          </a:p>
          <a:p>
            <a:pPr>
              <a:defRPr sz="1400" b="1"/>
            </a:pPr>
            <a:r>
              <a:t>STOCK CHECK:</a:t>
            </a:r>
          </a:p>
          <a:p>
            <a:pPr>
              <a:defRPr sz="1300"/>
            </a:pPr>
            <a:r>
              <a:t>🔴 Manual: Excel + hubungi Warehouse (delay 1-2 jam)</a:t>
            </a:r>
          </a:p>
          <a:p>
            <a:pPr>
              <a:defRPr sz="1300"/>
            </a:pPr>
            <a:r>
              <a:t>🟢 Odoo: REAL-TIME, No Delay</a:t>
            </a:r>
          </a:p>
          <a:p>
            <a:pPr>
              <a:defRPr sz="1300"/>
            </a:pPr>
          </a:p>
          <a:p>
            <a:pPr>
              <a:defRPr sz="1400" b="1"/>
            </a:pPr>
            <a:r>
              <a:t>CREATE PO:</a:t>
            </a:r>
          </a:p>
          <a:p>
            <a:pPr>
              <a:defRPr sz="1300"/>
            </a:pPr>
            <a:r>
              <a:t>🔴 Manual: Excel (copy-paste rawan typo)</a:t>
            </a:r>
          </a:p>
          <a:p>
            <a:pPr>
              <a:defRPr sz="1300"/>
            </a:pPr>
            <a:r>
              <a:t>🟢 Odoo: Auto-generate + Email auto-send!</a:t>
            </a:r>
          </a:p>
          <a:p>
            <a:pPr>
              <a:defRPr sz="1300"/>
            </a:pPr>
          </a:p>
          <a:p>
            <a:pPr>
              <a:defRPr sz="1400" b="1"/>
            </a:pPr>
            <a:r>
              <a:t>LABEL / DATESTAMP:</a:t>
            </a:r>
          </a:p>
          <a:p>
            <a:pPr>
              <a:defRPr sz="1300"/>
            </a:pPr>
            <a:r>
              <a:t>🔴 Manual: Manual Look-up. RISIKO TINGGI Mix Label!</a:t>
            </a:r>
          </a:p>
          <a:p>
            <a:pPr>
              <a:defRPr sz="1300"/>
            </a:pPr>
            <a:r>
              <a:t>🟢 Odoo: Auto-Inherit dari PO Label. Tidak bisa diedit manual.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0021B"/>
                </a:solidFill>
              </a:defRPr>
            </a:pPr>
            <a:r>
              <a:t>Slide 4 — Odoo 2023: Apa yang Gagal?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💀 Project Odoo 2023 (Odoo Community Edition via Impact) — GAGAL TOTAL</a:t>
            </a:r>
          </a:p>
          <a:p>
            <a:pPr>
              <a:defRPr sz="1300"/>
            </a:pPr>
            <a:r>
              <a:t>Proyek di-abandon setelah 6 bulan, tim kembali ke Excel.</a:t>
            </a:r>
          </a:p>
          <a:p>
            <a:pPr>
              <a:defRPr sz="1300"/>
            </a:pPr>
          </a:p>
          <a:p>
            <a:pPr>
              <a:defRPr sz="1500" b="1"/>
            </a:pPr>
            <a:r>
              <a:t>8 MASALAH KRITIS:</a:t>
            </a:r>
          </a:p>
          <a:p>
            <a:pPr>
              <a:defRPr sz="1300"/>
            </a:pPr>
            <a:r>
              <a:t>❌ 1. BOM Management: Input manual 478 SKU → 3-4 bulan data entry</a:t>
            </a:r>
          </a:p>
          <a:p>
            <a:pPr>
              <a:defRPr sz="1300"/>
            </a:pPr>
            <a:r>
              <a:t>❌ 2. Material Availability: Status MERAH palsu → Production block</a:t>
            </a:r>
          </a:p>
          <a:p>
            <a:pPr>
              <a:defRPr sz="1300"/>
            </a:pPr>
            <a:r>
              <a:t>❌ 3. Reporting: Tidak ada export → Data trapped di system</a:t>
            </a:r>
          </a:p>
          <a:p>
            <a:pPr>
              <a:defRPr sz="1300"/>
            </a:pPr>
            <a:r>
              <a:t>❌ 4. Vendor Force-fit: 'Kalian yang harus adjust' → User frustasi</a:t>
            </a:r>
          </a:p>
          <a:p>
            <a:pPr>
              <a:defRPr sz="1300"/>
            </a:pPr>
            <a:r>
              <a:t>❌ 5. UOM Conversion: Mismatch ROLL vs METER → BOM consumption salah</a:t>
            </a:r>
          </a:p>
          <a:p>
            <a:pPr>
              <a:defRPr sz="1300"/>
            </a:pPr>
            <a:r>
              <a:t>❌ 6. UI/UX: Menu 5-6 klik, Bahasa Inggris → User kembali ke Excel</a:t>
            </a:r>
          </a:p>
          <a:p>
            <a:pPr>
              <a:defRPr sz="1300"/>
            </a:pPr>
            <a:r>
              <a:t>❌ 7. MO Manual: 20-30 MO/hari manual create → Human error</a:t>
            </a:r>
          </a:p>
          <a:p>
            <a:pPr>
              <a:defRPr sz="1300"/>
            </a:pPr>
            <a:r>
              <a:t>❌ 8. WO Manual: 5 dept = 5x manual work → WO tidak sync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ED321"/>
                </a:solidFill>
              </a:defRPr>
            </a:pPr>
            <a:r>
              <a:t>Slide 5 — Odoo 2026: Apa yang Berbeda?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🚀 Rencana 2026: Odoo Enterprise via Odoo Indonesia (Principal)</a:t>
            </a:r>
          </a:p>
          <a:p>
            <a:pPr>
              <a:defRPr sz="1300"/>
            </a:pPr>
            <a:r>
              <a:t>Pendekatan partnership, bukan transactional.</a:t>
            </a:r>
          </a:p>
          <a:p>
            <a:pPr>
              <a:defRPr sz="1300"/>
            </a:pPr>
          </a:p>
          <a:p>
            <a:pPr>
              <a:defRPr sz="1500" b="1"/>
            </a:pPr>
            <a:r>
              <a:t>8 SOLUSI UNTUK 8 MASALAH:</a:t>
            </a:r>
          </a:p>
          <a:p>
            <a:pPr>
              <a:defRPr sz="1300"/>
            </a:pPr>
            <a:r>
              <a:t>✅ 1. BOM: Import massal 478 SKU + Dual BOM (Purchasing + Production)</a:t>
            </a:r>
          </a:p>
          <a:p>
            <a:pPr>
              <a:defRPr sz="1300"/>
            </a:pPr>
            <a:r>
              <a:t>✅ 2. Material: Dual MO System + Real-time stock sync</a:t>
            </a:r>
          </a:p>
          <a:p>
            <a:pPr>
              <a:defRPr sz="1300"/>
            </a:pPr>
            <a:r>
              <a:t>✅ 3. Reporting: Export Excel/CSV + API integration + Dashboard</a:t>
            </a:r>
          </a:p>
          <a:p>
            <a:pPr>
              <a:defRPr sz="1300"/>
            </a:pPr>
            <a:r>
              <a:t>✅ 4. Partnership: Discovery workshop + Gap analysis transparent</a:t>
            </a:r>
          </a:p>
          <a:p>
            <a:pPr>
              <a:defRPr sz="1300"/>
            </a:pPr>
            <a:r>
              <a:t>✅ 5. UOM: Multi-unit configured + Pallet-level tracking (IKEA rules)</a:t>
            </a:r>
          </a:p>
          <a:p>
            <a:pPr>
              <a:defRPr sz="1300"/>
            </a:pPr>
            <a:r>
              <a:t>✅ 6. UI/UX: Simplified menu (1-2 klik) + Bahasa Indonesia + Mobile</a:t>
            </a:r>
          </a:p>
          <a:p>
            <a:pPr>
              <a:defRPr sz="1300"/>
            </a:pPr>
            <a:r>
              <a:t>✅ 7. MO: PO → Auto-generate 2 MO parallel (IKEA + Pabrik)</a:t>
            </a:r>
          </a:p>
          <a:p>
            <a:pPr>
              <a:defRPr sz="1300"/>
            </a:pPr>
            <a:r>
              <a:t>✅ 8. WO: 1 MO → 5 WO/SPK auto-generated + Real-time visibility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Dual MO System — Rekomendasi 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📋 PO Purchasing → 2 MO Parallel:</a:t>
            </a:r>
          </a:p>
          <a:p>
            <a:pPr>
              <a:defRPr sz="1400"/>
            </a:pPr>
          </a:p>
          <a:p>
            <a:pPr>
              <a:defRPr sz="1400" b="1"/>
            </a:pPr>
            <a:r>
              <a:t>1️⃣ MO PURCHASING (Fixed Planning)</a:t>
            </a:r>
          </a:p>
          <a:p>
            <a:pPr>
              <a:defRPr sz="1400"/>
            </a:pPr>
            <a:r>
              <a:t>   • Target: 1000 pcs (Fixed)</a:t>
            </a:r>
          </a:p>
          <a:p>
            <a:pPr>
              <a:defRPr sz="1400"/>
            </a:pPr>
            <a:r>
              <a:t>   • Untuk: IKEA Reporting</a:t>
            </a:r>
          </a:p>
          <a:p>
            <a:pPr>
              <a:defRPr sz="1400"/>
            </a:pPr>
            <a:r>
              <a:t>   • Status: Clean, Match Order</a:t>
            </a:r>
          </a:p>
          <a:p>
            <a:pPr>
              <a:defRPr sz="1400"/>
            </a:pPr>
          </a:p>
          <a:p>
            <a:pPr>
              <a:defRPr sz="1400" b="1"/>
            </a:pPr>
            <a:r>
              <a:t>2️⃣ MO PABRIK (Dynamic Execution)</a:t>
            </a:r>
          </a:p>
          <a:p>
            <a:pPr>
              <a:defRPr sz="1400"/>
            </a:pPr>
            <a:r>
              <a:t>   • Target: Flexible</a:t>
            </a:r>
          </a:p>
          <a:p>
            <a:pPr>
              <a:defRPr sz="1400"/>
            </a:pPr>
            <a:r>
              <a:t>   • Untuk: Factory Tracking</a:t>
            </a:r>
          </a:p>
          <a:p>
            <a:pPr>
              <a:defRPr sz="1400"/>
            </a:pPr>
            <a:r>
              <a:t>   • Input: Daily Production + Consumption + QC</a:t>
            </a:r>
          </a:p>
          <a:p>
            <a:pPr>
              <a:defRPr sz="1400"/>
            </a:pPr>
          </a:p>
          <a:p>
            <a:pPr>
              <a:defRPr sz="1400" b="1"/>
            </a:pPr>
            <a:r>
              <a:t>🔄 RECONCILIATION OTOMATIS:</a:t>
            </a:r>
          </a:p>
          <a:p>
            <a:pPr>
              <a:defRPr sz="1400"/>
            </a:pPr>
            <a:r>
              <a:t>   Variance: +50 pcs (5% efficiency gain) → GREEN 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Slide 6 — Perbandingan Lengkap: 2023 vs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ODOO COMMUNITY vs ODOO ENTERPRISE:</a:t>
            </a:r>
          </a:p>
          <a:p>
            <a:pPr>
              <a:defRPr sz="1300"/>
            </a:pPr>
            <a:r>
              <a:t>🔴 Community: Free, Fitur Terbatas, Community Support, Manual Upgrade</a:t>
            </a:r>
          </a:p>
          <a:p>
            <a:pPr>
              <a:defRPr sz="1300"/>
            </a:pPr>
            <a:r>
              <a:t>🟢 Enterprise: Berbayar, Fitur Lengkap, Official Support, Auto Upgrade</a:t>
            </a:r>
          </a:p>
          <a:p>
            <a:pPr>
              <a:defRPr sz="1300"/>
            </a:pPr>
          </a:p>
          <a:p>
            <a:pPr>
              <a:defRPr sz="1400" b="1"/>
            </a:pPr>
            <a:r>
              <a:t>IMPLEMENTASI 2023 vs 2026:</a:t>
            </a:r>
          </a:p>
          <a:p>
            <a:pPr>
              <a:defRPr sz="1400" b="1"/>
            </a:pPr>
            <a:r>
              <a:t>Setup BOM:</a:t>
            </a:r>
          </a:p>
          <a:p>
            <a:pPr>
              <a:defRPr sz="1300"/>
            </a:pPr>
            <a:r>
              <a:t>  🔴 2023: Input manual satu per satu</a:t>
            </a:r>
          </a:p>
          <a:p>
            <a:pPr>
              <a:defRPr sz="1300"/>
            </a:pPr>
            <a:r>
              <a:t>  🟢 2026: Import massal + Dual BOM</a:t>
            </a:r>
          </a:p>
          <a:p>
            <a:pPr>
              <a:defRPr sz="1300"/>
            </a:pPr>
          </a:p>
          <a:p>
            <a:pPr>
              <a:defRPr sz="1400" b="1"/>
            </a:pPr>
            <a:r>
              <a:t>Sistem MO:</a:t>
            </a:r>
          </a:p>
          <a:p>
            <a:pPr>
              <a:defRPr sz="1300"/>
            </a:pPr>
            <a:r>
              <a:t>  🔴 2023: Single MO (variance membingungkan)</a:t>
            </a:r>
          </a:p>
          <a:p>
            <a:pPr>
              <a:defRPr sz="1300"/>
            </a:pPr>
            <a:r>
              <a:t>  🟢 2026: Dual MO (IKEA tetap + Pabrik dinamis) ⭐ RECOMMENDED</a:t>
            </a:r>
          </a:p>
          <a:p>
            <a:pPr>
              <a:defRPr sz="1300"/>
            </a:pPr>
          </a:p>
          <a:p>
            <a:pPr>
              <a:defRPr sz="1400" b="1"/>
            </a:pPr>
            <a:r>
              <a:t>UI/UX:</a:t>
            </a:r>
          </a:p>
          <a:p>
            <a:pPr>
              <a:defRPr sz="1300"/>
            </a:pPr>
            <a:r>
              <a:t>  🔴 2023: Kompleks, hanya Bahasa Inggris</a:t>
            </a:r>
          </a:p>
          <a:p>
            <a:pPr>
              <a:defRPr sz="1300"/>
            </a:pPr>
            <a:r>
              <a:t>  🟢 2026: Disederhanakan, Bahasa Indonesia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Slide 7 — Metodologi Implementasi Odoo Indonesia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🏢 ODOO INDONESIA (Principal) — Representasi Resmi Odoo S.A.</a:t>
            </a:r>
          </a:p>
          <a:p>
            <a:pPr>
              <a:defRPr sz="1300"/>
            </a:pPr>
          </a:p>
          <a:p>
            <a:pPr>
              <a:defRPr sz="1400" b="1"/>
            </a:pPr>
            <a:r>
              <a:t>TAHAPAN IMPLEMENTASI:</a:t>
            </a:r>
          </a:p>
          <a:p>
            <a:pPr>
              <a:defRPr sz="1300"/>
            </a:pPr>
            <a:r>
              <a:t>1️⃣ INISIASI (Scoping): Kirim requirements &amp; pain points</a:t>
            </a:r>
          </a:p>
          <a:p>
            <a:pPr>
              <a:defRPr sz="1300"/>
            </a:pPr>
            <a:r>
              <a:t>2️⃣ GAP ANALYSIS: Consultation &amp; Estimasi</a:t>
            </a:r>
          </a:p>
          <a:p>
            <a:pPr>
              <a:defRPr sz="1300"/>
            </a:pPr>
            <a:r>
              <a:t>3️⃣ PELAKSANAAN: Deep dive operasional PT Quty</a:t>
            </a:r>
          </a:p>
          <a:p>
            <a:pPr>
              <a:defRPr sz="1300"/>
            </a:pPr>
            <a:r>
              <a:t>4️⃣ DELIVERABLES: Gap Analysis Report → Validasi → Revisi jika perlu</a:t>
            </a:r>
          </a:p>
          <a:p>
            <a:pPr>
              <a:defRPr sz="1300"/>
            </a:pPr>
            <a:r>
              <a:t>5️⃣ FINALISASI: Proposal Proyek Final</a:t>
            </a:r>
          </a:p>
          <a:p>
            <a:pPr>
              <a:defRPr sz="1300"/>
            </a:pPr>
          </a:p>
          <a:p>
            <a:pPr>
              <a:defRPr sz="1400" b="1"/>
            </a:pPr>
            <a:r>
              <a:t>JAMINAN KESESUAIAN:</a:t>
            </a:r>
          </a:p>
          <a:p>
            <a:pPr>
              <a:defRPr sz="1300"/>
            </a:pPr>
            <a:r>
              <a:t>🔍 Filter 1: Product Demo sebelum development</a:t>
            </a:r>
          </a:p>
          <a:p>
            <a:pPr>
              <a:defRPr sz="1300"/>
            </a:pPr>
            <a:r>
              <a:t>✅ Filter 2: User Acceptance Testing (UAT)</a:t>
            </a:r>
          </a:p>
          <a:p>
            <a:pPr>
              <a:defRPr sz="1300"/>
            </a:pPr>
            <a:r>
              <a:t>🏥 Hypercare: 2-3 bulan setelah Go-Live</a:t>
            </a:r>
          </a:p>
          <a:p>
            <a:pPr>
              <a:defRPr sz="1300"/>
            </a:pPr>
          </a:p>
          <a:p>
            <a:pPr>
              <a:defRPr sz="1400" b="1"/>
            </a:pPr>
            <a:r>
              <a:t>🤝 PARTNERSHIP APPROACH:</a:t>
            </a:r>
          </a:p>
          <a:p>
            <a:pPr>
              <a:defRPr sz="1300"/>
            </a:pPr>
            <a:r>
              <a:t>'Kami demand partnership, bukan transactional.'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D9"/>
                </a:solidFill>
              </a:defRPr>
            </a:pPr>
            <a:r>
              <a:t>Kesimpulan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🎯 KESIMPULAN:</a:t>
            </a:r>
          </a:p>
          <a:p>
            <a:pPr algn="ctr">
              <a:defRPr sz="1600"/>
            </a:pPr>
          </a:p>
          <a:p>
            <a:pPr algn="ctr">
              <a:defRPr sz="1600"/>
            </a:pPr>
            <a:r>
              <a:t>Implementasi Odoo 2026 dirancang berdasarkan lessons learned</a:t>
            </a:r>
          </a:p>
          <a:p>
            <a:pPr algn="ctr">
              <a:defRPr sz="1600"/>
            </a:pPr>
            <a:r>
              <a:t>dari kegagalan 2023.</a:t>
            </a:r>
          </a:p>
          <a:p>
            <a:pPr algn="ctr">
              <a:defRPr sz="1600"/>
            </a:pPr>
          </a:p>
          <a:p>
            <a:pPr algn="ctr">
              <a:defRPr sz="1600"/>
            </a:pPr>
            <a:r>
              <a:t>Dengan pendekatan:</a:t>
            </a:r>
          </a:p>
          <a:p>
            <a:pPr algn="ctr">
              <a:defRPr sz="1600"/>
            </a:pPr>
            <a:r>
              <a:t>✅ Dual BOM + Dual MO System</a:t>
            </a:r>
          </a:p>
          <a:p>
            <a:pPr algn="ctr">
              <a:defRPr sz="1600"/>
            </a:pPr>
            <a:r>
              <a:t>✅ 7 unique requirements ter-address</a:t>
            </a:r>
          </a:p>
          <a:p>
            <a:pPr algn="ctr">
              <a:defRPr sz="1600"/>
            </a:pPr>
            <a:r>
              <a:t>✅ Partnership approach dengan Odoo Indonesia (Principal)</a:t>
            </a:r>
          </a:p>
          <a:p>
            <a:pPr algn="ctr">
              <a:defRPr sz="1600"/>
            </a:pPr>
            <a:r>
              <a:t>✅ Enterprise Edition dengan fitur lengkap</a:t>
            </a:r>
          </a:p>
          <a:p>
            <a:pPr algn="ctr">
              <a:defRPr sz="1600"/>
            </a:pPr>
            <a:r>
              <a:t>✅ Metodologi terstruktur dengan jaminan kesesuaian</a:t>
            </a:r>
          </a:p>
          <a:p>
            <a:pPr algn="ctr">
              <a:defRPr sz="1600"/>
            </a:pPr>
          </a:p>
          <a:p>
            <a:pPr algn="ctr">
              <a:defRPr sz="1600" b="1">
                <a:solidFill>
                  <a:srgbClr val="7ED321"/>
                </a:solidFill>
              </a:defRPr>
            </a:pPr>
            <a:r>
              <a:t>PT Quty Karunia siap untuk transformasi digital yang sukses!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